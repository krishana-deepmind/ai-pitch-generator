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1F5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371600"/>
          </a:xfrm>
          <a:prstGeom prst="rect">
            <a:avLst/>
          </a:prstGeom>
          <a:noFill/>
        </p:spPr>
        <p:txBody>
          <a:bodyPr wrap="square">
            <a:spAutoFit/>
          </a:bodyPr>
          <a:lstStyle/>
          <a:p>
            <a:pPr algn="l">
              <a:defRPr sz="4000" b="1">
                <a:solidFill>
                  <a:srgbClr val="FFFFFF"/>
                </a:solidFill>
                <a:latin typeface="Calibri"/>
              </a:defRPr>
            </a:pPr>
            <a:r>
              <a:t>infosys</a:t>
            </a:r>
          </a:p>
        </p:txBody>
      </p:sp>
      <p:sp>
        <p:nvSpPr>
          <p:cNvPr id="4" name="TextBox 3"/>
          <p:cNvSpPr txBox="1"/>
          <p:nvPr/>
        </p:nvSpPr>
        <p:spPr>
          <a:xfrm>
            <a:off x="914400" y="3017520"/>
            <a:ext cx="10058400" cy="731520"/>
          </a:xfrm>
          <a:prstGeom prst="rect">
            <a:avLst/>
          </a:prstGeom>
          <a:noFill/>
        </p:spPr>
        <p:txBody>
          <a:bodyPr wrap="square">
            <a:spAutoFit/>
          </a:bodyPr>
          <a:lstStyle/>
          <a:p>
            <a:pPr algn="l">
              <a:defRPr sz="2200" b="0">
                <a:solidFill>
                  <a:srgbClr val="418FDE"/>
                </a:solidFill>
                <a:latin typeface="Calibri"/>
              </a:defRPr>
            </a:pPr>
            <a:r>
              <a:t>Medical Insurance — Tailored Coverage Proposal</a:t>
            </a:r>
          </a:p>
        </p:txBody>
      </p:sp>
      <p:sp>
        <p:nvSpPr>
          <p:cNvPr id="5" name="Rectangle 4"/>
          <p:cNvSpPr/>
          <p:nvPr/>
        </p:nvSpPr>
        <p:spPr>
          <a:xfrm>
            <a:off x="0" y="5029200"/>
            <a:ext cx="3657600" cy="7315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669280"/>
            <a:ext cx="5486400" cy="457200"/>
          </a:xfrm>
          <a:prstGeom prst="rect">
            <a:avLst/>
          </a:prstGeom>
          <a:noFill/>
        </p:spPr>
        <p:txBody>
          <a:bodyPr wrap="square">
            <a:spAutoFit/>
          </a:bodyPr>
          <a:lstStyle/>
          <a:p>
            <a:pPr algn="l">
              <a:defRPr sz="1200" b="0">
                <a:solidFill>
                  <a:srgbClr val="666666"/>
                </a:solidFill>
                <a:latin typeface="Calibri"/>
              </a:defRPr>
            </a:pPr>
            <a:r>
              <a:t>Prepared by Marsh | September 2026</a:t>
            </a:r>
          </a:p>
        </p:txBody>
      </p:sp>
      <p:sp>
        <p:nvSpPr>
          <p:cNvPr id="7" name="TextBox 6"/>
          <p:cNvSpPr txBox="1"/>
          <p:nvPr/>
        </p:nvSpPr>
        <p:spPr>
          <a:xfrm>
            <a:off x="8686800" y="5669280"/>
            <a:ext cx="2743200" cy="548640"/>
          </a:xfrm>
          <a:prstGeom prst="rect">
            <a:avLst/>
          </a:prstGeom>
          <a:noFill/>
        </p:spPr>
        <p:txBody>
          <a:bodyPr wrap="square">
            <a:spAutoFit/>
          </a:bodyPr>
          <a:lstStyle/>
          <a:p>
            <a:pPr algn="r">
              <a:defRPr sz="2800" b="1">
                <a:solidFill>
                  <a:srgbClr val="0052C2"/>
                </a:solidFill>
                <a:latin typeface="Calibri"/>
              </a:defRPr>
            </a:pPr>
            <a:r>
              <a:t>MARSH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1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0080" cy="3657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914400" cy="457200"/>
          </a:xfrm>
          <a:prstGeom prst="rect">
            <a:avLst/>
          </a:prstGeom>
          <a:noFill/>
        </p:spPr>
        <p:txBody>
          <a:bodyPr wrap="square">
            <a:spAutoFit/>
          </a:bodyPr>
          <a:lstStyle/>
          <a:p>
            <a:pPr algn="l">
              <a:defRPr sz="1400" b="1">
                <a:solidFill>
                  <a:srgbClr val="009688"/>
                </a:solidFill>
                <a:latin typeface="Calibri"/>
              </a:defRPr>
            </a:pPr>
            <a:r>
              <a:t>01</a:t>
            </a:r>
          </a:p>
        </p:txBody>
      </p:sp>
      <p:sp>
        <p:nvSpPr>
          <p:cNvPr id="5" name="TextBox 4"/>
          <p:cNvSpPr txBox="1"/>
          <p:nvPr/>
        </p:nvSpPr>
        <p:spPr>
          <a:xfrm>
            <a:off x="731520" y="548640"/>
            <a:ext cx="10058400" cy="822960"/>
          </a:xfrm>
          <a:prstGeom prst="rect">
            <a:avLst/>
          </a:prstGeom>
          <a:noFill/>
        </p:spPr>
        <p:txBody>
          <a:bodyPr wrap="square">
            <a:spAutoFit/>
          </a:bodyPr>
          <a:lstStyle/>
          <a:p>
            <a:pPr algn="l">
              <a:defRPr sz="2800" b="1">
                <a:solidFill>
                  <a:srgbClr val="001F5B"/>
                </a:solidFill>
                <a:latin typeface="Calibri"/>
              </a:defRPr>
            </a:pPr>
            <a:r>
              <a:t>Company Overview</a:t>
            </a:r>
          </a:p>
        </p:txBody>
      </p:sp>
      <p:sp>
        <p:nvSpPr>
          <p:cNvPr id="6" name="TextBox 5"/>
          <p:cNvSpPr txBox="1"/>
          <p:nvPr/>
        </p:nvSpPr>
        <p:spPr>
          <a:xfrm>
            <a:off x="731520" y="1371600"/>
            <a:ext cx="10515600" cy="4114800"/>
          </a:xfrm>
          <a:prstGeom prst="rect">
            <a:avLst/>
          </a:prstGeom>
          <a:noFill/>
        </p:spPr>
        <p:txBody>
          <a:bodyPr wrap="square">
            <a:spAutoFit/>
          </a:bodyPr>
          <a:lstStyle/>
          <a:p>
            <a:pPr>
              <a:spcAft>
                <a:spcPts val="1200"/>
              </a:spcAft>
              <a:defRPr sz="1600">
                <a:solidFill>
                  <a:srgbClr val="333333"/>
                </a:solidFill>
                <a:latin typeface="Calibri"/>
              </a:defRPr>
            </a:pPr>
            <a:r>
              <a:t>▸  Infosys is a large IT consulting and outsourcing firm with &gt;10,000 employees headquartered in Bengaluru, India.</a:t>
            </a:r>
          </a:p>
          <a:p>
            <a:pPr>
              <a:spcAft>
                <a:spcPts val="1200"/>
              </a:spcAft>
              <a:defRPr sz="1600">
                <a:solidFill>
                  <a:srgbClr val="333333"/>
                </a:solidFill>
                <a:latin typeface="Calibri"/>
              </a:defRPr>
            </a:pPr>
            <a:r>
              <a:t>▸  Workforce is primarily mid‑career professionals (age 25‑45) working in office, remote and on‑site project locations.</a:t>
            </a:r>
          </a:p>
          <a:p>
            <a:pPr>
              <a:spcAft>
                <a:spcPts val="1200"/>
              </a:spcAft>
              <a:defRPr sz="1600">
                <a:solidFill>
                  <a:srgbClr val="333333"/>
                </a:solidFill>
                <a:latin typeface="Calibri"/>
              </a:defRPr>
            </a:pPr>
            <a:r>
              <a:t>▸  Key health risk exposures: high work‑related stress, sedentary work leading to musculoskeletal disorders, frequent travel increasing cardiovascular risk, repetitive strain injuries, and mental health challenges.</a:t>
            </a:r>
          </a:p>
          <a:p>
            <a:pPr>
              <a:spcAft>
                <a:spcPts val="1200"/>
              </a:spcAft>
              <a:defRPr sz="1600">
                <a:solidFill>
                  <a:srgbClr val="333333"/>
                </a:solidFill>
                <a:latin typeface="Calibri"/>
              </a:defRPr>
            </a:pPr>
            <a:r>
              <a:t>▸  Employees experience long hours and tight project deadlines that elevate chronic disease risk (e.g., hypertension, diabetes).</a:t>
            </a:r>
          </a:p>
        </p:txBody>
      </p:sp>
      <p:sp>
        <p:nvSpPr>
          <p:cNvPr id="7" name="Rectangle 6"/>
          <p:cNvSpPr/>
          <p:nvPr/>
        </p:nvSpPr>
        <p:spPr>
          <a:xfrm>
            <a:off x="0" y="6583680"/>
            <a:ext cx="12191695" cy="274320"/>
          </a:xfrm>
          <a:prstGeom prst="rect">
            <a:avLst/>
          </a:prstGeom>
          <a:solidFill>
            <a:srgbClr val="001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4572000" cy="274320"/>
          </a:xfrm>
          <a:prstGeom prst="rect">
            <a:avLst/>
          </a:prstGeom>
          <a:noFill/>
        </p:spPr>
        <p:txBody>
          <a:bodyPr wrap="square">
            <a:spAutoFit/>
          </a:bodyPr>
          <a:lstStyle/>
          <a:p>
            <a:pPr algn="l">
              <a:defRPr sz="900" b="0">
                <a:solidFill>
                  <a:srgbClr val="FFFFFF"/>
                </a:solidFill>
                <a:latin typeface="Calibri"/>
              </a:defRPr>
            </a:pPr>
            <a:r>
              <a:t>MARSH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1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0080" cy="3657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914400" cy="457200"/>
          </a:xfrm>
          <a:prstGeom prst="rect">
            <a:avLst/>
          </a:prstGeom>
          <a:noFill/>
        </p:spPr>
        <p:txBody>
          <a:bodyPr wrap="square">
            <a:spAutoFit/>
          </a:bodyPr>
          <a:lstStyle/>
          <a:p>
            <a:pPr algn="l">
              <a:defRPr sz="1400" b="1">
                <a:solidFill>
                  <a:srgbClr val="009688"/>
                </a:solidFill>
                <a:latin typeface="Calibri"/>
              </a:defRPr>
            </a:pPr>
            <a:r>
              <a:t>02</a:t>
            </a:r>
          </a:p>
        </p:txBody>
      </p:sp>
      <p:sp>
        <p:nvSpPr>
          <p:cNvPr id="5" name="TextBox 4"/>
          <p:cNvSpPr txBox="1"/>
          <p:nvPr/>
        </p:nvSpPr>
        <p:spPr>
          <a:xfrm>
            <a:off x="731520" y="548640"/>
            <a:ext cx="10058400" cy="822960"/>
          </a:xfrm>
          <a:prstGeom prst="rect">
            <a:avLst/>
          </a:prstGeom>
          <a:noFill/>
        </p:spPr>
        <p:txBody>
          <a:bodyPr wrap="square">
            <a:spAutoFit/>
          </a:bodyPr>
          <a:lstStyle/>
          <a:p>
            <a:pPr algn="l">
              <a:defRPr sz="2800" b="1">
                <a:solidFill>
                  <a:srgbClr val="001F5B"/>
                </a:solidFill>
                <a:latin typeface="Calibri"/>
              </a:defRPr>
            </a:pPr>
            <a:r>
              <a:t>Why Choose Marsh</a:t>
            </a:r>
          </a:p>
        </p:txBody>
      </p:sp>
      <p:sp>
        <p:nvSpPr>
          <p:cNvPr id="6" name="TextBox 5"/>
          <p:cNvSpPr txBox="1"/>
          <p:nvPr/>
        </p:nvSpPr>
        <p:spPr>
          <a:xfrm>
            <a:off x="731520" y="1371600"/>
            <a:ext cx="10515600" cy="4114800"/>
          </a:xfrm>
          <a:prstGeom prst="rect">
            <a:avLst/>
          </a:prstGeom>
          <a:noFill/>
        </p:spPr>
        <p:txBody>
          <a:bodyPr wrap="square">
            <a:spAutoFit/>
          </a:bodyPr>
          <a:lstStyle/>
          <a:p>
            <a:pPr>
              <a:spcAft>
                <a:spcPts val="1200"/>
              </a:spcAft>
              <a:defRPr sz="1600">
                <a:solidFill>
                  <a:srgbClr val="333333"/>
                </a:solidFill>
                <a:latin typeface="Calibri"/>
              </a:defRPr>
            </a:pPr>
            <a:r>
              <a:t>▸  Deep advisory expertise in structuring health solutions for large, globally dispersed workforces.</a:t>
            </a:r>
          </a:p>
          <a:p>
            <a:pPr>
              <a:spcAft>
                <a:spcPts val="1200"/>
              </a:spcAft>
              <a:defRPr sz="1600">
                <a:solidFill>
                  <a:srgbClr val="333333"/>
                </a:solidFill>
                <a:latin typeface="Calibri"/>
              </a:defRPr>
            </a:pPr>
            <a:r>
              <a:t>▸  Global network of insurers enables access to best‑in‑class products and competitive pricing.</a:t>
            </a:r>
          </a:p>
          <a:p>
            <a:pPr>
              <a:spcAft>
                <a:spcPts val="1200"/>
              </a:spcAft>
              <a:defRPr sz="1600">
                <a:solidFill>
                  <a:srgbClr val="333333"/>
                </a:solidFill>
                <a:latin typeface="Calibri"/>
              </a:defRPr>
            </a:pPr>
            <a:r>
              <a:t>▸  Dedicated claims advocacy team that accelerates settlement for complex corporate claims.</a:t>
            </a:r>
          </a:p>
          <a:p>
            <a:pPr>
              <a:spcAft>
                <a:spcPts val="1200"/>
              </a:spcAft>
              <a:defRPr sz="1600">
                <a:solidFill>
                  <a:srgbClr val="333333"/>
                </a:solidFill>
                <a:latin typeface="Calibri"/>
              </a:defRPr>
            </a:pPr>
            <a:r>
              <a:t>▸  Analytics‑driven risk mitigation programs that integrate wellness data with insurance design.</a:t>
            </a:r>
          </a:p>
        </p:txBody>
      </p:sp>
      <p:sp>
        <p:nvSpPr>
          <p:cNvPr id="7" name="Rectangle 6"/>
          <p:cNvSpPr/>
          <p:nvPr/>
        </p:nvSpPr>
        <p:spPr>
          <a:xfrm>
            <a:off x="0" y="6583680"/>
            <a:ext cx="12191695" cy="274320"/>
          </a:xfrm>
          <a:prstGeom prst="rect">
            <a:avLst/>
          </a:prstGeom>
          <a:solidFill>
            <a:srgbClr val="001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4572000" cy="274320"/>
          </a:xfrm>
          <a:prstGeom prst="rect">
            <a:avLst/>
          </a:prstGeom>
          <a:noFill/>
        </p:spPr>
        <p:txBody>
          <a:bodyPr wrap="square">
            <a:spAutoFit/>
          </a:bodyPr>
          <a:lstStyle/>
          <a:p>
            <a:pPr algn="l">
              <a:defRPr sz="900" b="0">
                <a:solidFill>
                  <a:srgbClr val="FFFFFF"/>
                </a:solidFill>
                <a:latin typeface="Calibri"/>
              </a:defRPr>
            </a:pPr>
            <a:r>
              <a:t>MARSH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1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0080" cy="3657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914400" cy="457200"/>
          </a:xfrm>
          <a:prstGeom prst="rect">
            <a:avLst/>
          </a:prstGeom>
          <a:noFill/>
        </p:spPr>
        <p:txBody>
          <a:bodyPr wrap="square">
            <a:spAutoFit/>
          </a:bodyPr>
          <a:lstStyle/>
          <a:p>
            <a:pPr algn="l">
              <a:defRPr sz="1400" b="1">
                <a:solidFill>
                  <a:srgbClr val="009688"/>
                </a:solidFill>
                <a:latin typeface="Calibri"/>
              </a:defRPr>
            </a:pPr>
            <a:r>
              <a:t>03</a:t>
            </a:r>
          </a:p>
        </p:txBody>
      </p:sp>
      <p:sp>
        <p:nvSpPr>
          <p:cNvPr id="5" name="TextBox 4"/>
          <p:cNvSpPr txBox="1"/>
          <p:nvPr/>
        </p:nvSpPr>
        <p:spPr>
          <a:xfrm>
            <a:off x="731520" y="548640"/>
            <a:ext cx="10058400" cy="822960"/>
          </a:xfrm>
          <a:prstGeom prst="rect">
            <a:avLst/>
          </a:prstGeom>
          <a:noFill/>
        </p:spPr>
        <p:txBody>
          <a:bodyPr wrap="square">
            <a:spAutoFit/>
          </a:bodyPr>
          <a:lstStyle/>
          <a:p>
            <a:pPr algn="l">
              <a:defRPr sz="2800" b="1">
                <a:solidFill>
                  <a:srgbClr val="001F5B"/>
                </a:solidFill>
                <a:latin typeface="Calibri"/>
              </a:defRPr>
            </a:pPr>
            <a:r>
              <a:t>Policy Benefits Mapped to Infosys Risks</a:t>
            </a:r>
          </a:p>
        </p:txBody>
      </p:sp>
      <p:sp>
        <p:nvSpPr>
          <p:cNvPr id="6" name="TextBox 5"/>
          <p:cNvSpPr txBox="1"/>
          <p:nvPr/>
        </p:nvSpPr>
        <p:spPr>
          <a:xfrm>
            <a:off x="731520" y="1371600"/>
            <a:ext cx="10515600" cy="4114800"/>
          </a:xfrm>
          <a:prstGeom prst="rect">
            <a:avLst/>
          </a:prstGeom>
          <a:noFill/>
        </p:spPr>
        <p:txBody>
          <a:bodyPr wrap="square">
            <a:spAutoFit/>
          </a:bodyPr>
          <a:lstStyle/>
          <a:p>
            <a:pPr>
              <a:spcAft>
                <a:spcPts val="1200"/>
              </a:spcAft>
              <a:defRPr sz="1600">
                <a:solidFill>
                  <a:srgbClr val="333333"/>
                </a:solidFill>
                <a:latin typeface="Calibri"/>
              </a:defRPr>
            </a:pPr>
            <a:r>
              <a:t>▸  Day‑1 cover for asthma, high blood pressure, high cholesterol and diabetes (ABHI) directly addresses chronic conditions linked to stress and sedentary work.</a:t>
            </a:r>
          </a:p>
          <a:p>
            <a:pPr>
              <a:spcAft>
                <a:spcPts val="1200"/>
              </a:spcAft>
              <a:defRPr sz="1600">
                <a:solidFill>
                  <a:srgbClr val="333333"/>
                </a:solidFill>
                <a:latin typeface="Calibri"/>
              </a:defRPr>
            </a:pPr>
            <a:r>
              <a:t>▸  ABCD Chronic Care add‑on (HDFC) provides hospitalization coverage for the same four chronic conditions from day 31, reducing out‑of‑pocket costs for acute episodes.</a:t>
            </a:r>
          </a:p>
          <a:p>
            <a:pPr>
              <a:spcAft>
                <a:spcPts val="1200"/>
              </a:spcAft>
              <a:defRPr sz="1600">
                <a:solidFill>
                  <a:srgbClr val="333333"/>
                </a:solidFill>
                <a:latin typeface="Calibri"/>
              </a:defRPr>
            </a:pPr>
            <a:r>
              <a:t>▸  Optima Wellbeing add‑on (HDFC) offers outpatient benefits, supporting frequent doctor visits for musculoskeletal and mental‑health issues.</a:t>
            </a:r>
          </a:p>
          <a:p>
            <a:pPr>
              <a:spcAft>
                <a:spcPts val="1200"/>
              </a:spcAft>
              <a:defRPr sz="1600">
                <a:solidFill>
                  <a:srgbClr val="333333"/>
                </a:solidFill>
                <a:latin typeface="Calibri"/>
              </a:defRPr>
            </a:pPr>
            <a:r>
              <a:t>▸  Hospital Cash Benefit (HDFC) pays a per‑day cash amount for each completed day of hospitalization, aiding employees during recovery from travel‑related injuries.</a:t>
            </a:r>
          </a:p>
          <a:p>
            <a:pPr>
              <a:spcAft>
                <a:spcPts val="1200"/>
              </a:spcAft>
              <a:defRPr sz="1600">
                <a:solidFill>
                  <a:srgbClr val="333333"/>
                </a:solidFill>
                <a:latin typeface="Calibri"/>
              </a:defRPr>
            </a:pPr>
            <a:r>
              <a:t>▸  Pre‑existing disease waiting period of 36 months (Care Health) gives clarity on coverage timelines for existing conditions.</a:t>
            </a:r>
          </a:p>
        </p:txBody>
      </p:sp>
      <p:sp>
        <p:nvSpPr>
          <p:cNvPr id="7" name="Rectangle 6"/>
          <p:cNvSpPr/>
          <p:nvPr/>
        </p:nvSpPr>
        <p:spPr>
          <a:xfrm>
            <a:off x="0" y="6583680"/>
            <a:ext cx="12191695" cy="274320"/>
          </a:xfrm>
          <a:prstGeom prst="rect">
            <a:avLst/>
          </a:prstGeom>
          <a:solidFill>
            <a:srgbClr val="001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4572000" cy="274320"/>
          </a:xfrm>
          <a:prstGeom prst="rect">
            <a:avLst/>
          </a:prstGeom>
          <a:noFill/>
        </p:spPr>
        <p:txBody>
          <a:bodyPr wrap="square">
            <a:spAutoFit/>
          </a:bodyPr>
          <a:lstStyle/>
          <a:p>
            <a:pPr algn="l">
              <a:defRPr sz="900" b="0">
                <a:solidFill>
                  <a:srgbClr val="FFFFFF"/>
                </a:solidFill>
                <a:latin typeface="Calibri"/>
              </a:defRPr>
            </a:pPr>
            <a:r>
              <a:t>MARSH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1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0080" cy="3657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914400" cy="457200"/>
          </a:xfrm>
          <a:prstGeom prst="rect">
            <a:avLst/>
          </a:prstGeom>
          <a:noFill/>
        </p:spPr>
        <p:txBody>
          <a:bodyPr wrap="square">
            <a:spAutoFit/>
          </a:bodyPr>
          <a:lstStyle/>
          <a:p>
            <a:pPr algn="l">
              <a:defRPr sz="1400" b="1">
                <a:solidFill>
                  <a:srgbClr val="009688"/>
                </a:solidFill>
                <a:latin typeface="Calibri"/>
              </a:defRPr>
            </a:pPr>
            <a:r>
              <a:t>04</a:t>
            </a:r>
          </a:p>
        </p:txBody>
      </p:sp>
      <p:sp>
        <p:nvSpPr>
          <p:cNvPr id="5" name="TextBox 4"/>
          <p:cNvSpPr txBox="1"/>
          <p:nvPr/>
        </p:nvSpPr>
        <p:spPr>
          <a:xfrm>
            <a:off x="731520" y="548640"/>
            <a:ext cx="10058400" cy="822960"/>
          </a:xfrm>
          <a:prstGeom prst="rect">
            <a:avLst/>
          </a:prstGeom>
          <a:noFill/>
        </p:spPr>
        <p:txBody>
          <a:bodyPr wrap="square">
            <a:spAutoFit/>
          </a:bodyPr>
          <a:lstStyle/>
          <a:p>
            <a:pPr algn="l">
              <a:defRPr sz="2800" b="1">
                <a:solidFill>
                  <a:srgbClr val="001F5B"/>
                </a:solidFill>
                <a:latin typeface="Calibri"/>
              </a:defRPr>
            </a:pPr>
            <a:r>
              <a:t>Coverage Comparison</a:t>
            </a:r>
          </a:p>
        </p:txBody>
      </p:sp>
      <p:sp>
        <p:nvSpPr>
          <p:cNvPr id="6" name="TextBox 5"/>
          <p:cNvSpPr txBox="1"/>
          <p:nvPr/>
        </p:nvSpPr>
        <p:spPr>
          <a:xfrm>
            <a:off x="731520" y="1371600"/>
            <a:ext cx="10515600" cy="4114800"/>
          </a:xfrm>
          <a:prstGeom prst="rect">
            <a:avLst/>
          </a:prstGeom>
          <a:noFill/>
        </p:spPr>
        <p:txBody>
          <a:bodyPr wrap="square">
            <a:spAutoFit/>
          </a:bodyPr>
          <a:lstStyle/>
          <a:p>
            <a:pPr>
              <a:spcAft>
                <a:spcPts val="1200"/>
              </a:spcAft>
              <a:defRPr sz="1600">
                <a:solidFill>
                  <a:srgbClr val="333333"/>
                </a:solidFill>
                <a:latin typeface="Calibri"/>
              </a:defRPr>
            </a:pPr>
            <a:r>
              <a:t>▸  Care Health: 36‑month pre‑existing disease waiting period; strong wellness services but no explicit chronic‑condition Day‑1 cover.</a:t>
            </a:r>
          </a:p>
          <a:p>
            <a:pPr>
              <a:spcAft>
                <a:spcPts val="1200"/>
              </a:spcAft>
              <a:defRPr sz="1600">
                <a:solidFill>
                  <a:srgbClr val="333333"/>
                </a:solidFill>
                <a:latin typeface="Calibri"/>
              </a:defRPr>
            </a:pPr>
            <a:r>
              <a:t>▸  ABHI: Immediate (Day‑1) coverage for asthma, hypertension, cholesterol and diabetes; no listed add‑ons for outpatient or cash benefit.</a:t>
            </a:r>
          </a:p>
          <a:p>
            <a:pPr>
              <a:spcAft>
                <a:spcPts val="1200"/>
              </a:spcAft>
              <a:defRPr sz="1600">
                <a:solidFill>
                  <a:srgbClr val="333333"/>
                </a:solidFill>
                <a:latin typeface="Calibri"/>
              </a:defRPr>
            </a:pPr>
            <a:r>
              <a:t>▸  HDFC ERGO: ABCD Chronic Care adds hospitalization from day 31 for the same chronic conditions; Optima Wellbeing adds outpatient benefits; Hospital Cash Benefit provides daily cash during stay.</a:t>
            </a:r>
          </a:p>
          <a:p>
            <a:pPr>
              <a:spcAft>
                <a:spcPts val="1200"/>
              </a:spcAft>
              <a:defRPr sz="1600">
                <a:solidFill>
                  <a:srgbClr val="333333"/>
                </a:solidFill>
                <a:latin typeface="Calibri"/>
              </a:defRPr>
            </a:pPr>
            <a:r>
              <a:t>▸  HDFC’s Infinite Benefit adds 100% of base sum insured at no extra cost, enhancing overall coverage depth.</a:t>
            </a:r>
          </a:p>
        </p:txBody>
      </p:sp>
      <p:sp>
        <p:nvSpPr>
          <p:cNvPr id="7" name="Rectangle 6"/>
          <p:cNvSpPr/>
          <p:nvPr/>
        </p:nvSpPr>
        <p:spPr>
          <a:xfrm>
            <a:off x="0" y="6583680"/>
            <a:ext cx="12191695" cy="274320"/>
          </a:xfrm>
          <a:prstGeom prst="rect">
            <a:avLst/>
          </a:prstGeom>
          <a:solidFill>
            <a:srgbClr val="001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4572000" cy="274320"/>
          </a:xfrm>
          <a:prstGeom prst="rect">
            <a:avLst/>
          </a:prstGeom>
          <a:noFill/>
        </p:spPr>
        <p:txBody>
          <a:bodyPr wrap="square">
            <a:spAutoFit/>
          </a:bodyPr>
          <a:lstStyle/>
          <a:p>
            <a:pPr algn="l">
              <a:defRPr sz="900" b="0">
                <a:solidFill>
                  <a:srgbClr val="FFFFFF"/>
                </a:solidFill>
                <a:latin typeface="Calibri"/>
              </a:defRPr>
            </a:pPr>
            <a:r>
              <a:t>MARSH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1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0080" cy="36576"/>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914400" cy="457200"/>
          </a:xfrm>
          <a:prstGeom prst="rect">
            <a:avLst/>
          </a:prstGeom>
          <a:noFill/>
        </p:spPr>
        <p:txBody>
          <a:bodyPr wrap="square">
            <a:spAutoFit/>
          </a:bodyPr>
          <a:lstStyle/>
          <a:p>
            <a:pPr algn="l">
              <a:defRPr sz="1400" b="1">
                <a:solidFill>
                  <a:srgbClr val="009688"/>
                </a:solidFill>
                <a:latin typeface="Calibri"/>
              </a:defRPr>
            </a:pPr>
            <a:r>
              <a:t>05</a:t>
            </a:r>
          </a:p>
        </p:txBody>
      </p:sp>
      <p:sp>
        <p:nvSpPr>
          <p:cNvPr id="5" name="TextBox 4"/>
          <p:cNvSpPr txBox="1"/>
          <p:nvPr/>
        </p:nvSpPr>
        <p:spPr>
          <a:xfrm>
            <a:off x="731520" y="548640"/>
            <a:ext cx="10058400" cy="822960"/>
          </a:xfrm>
          <a:prstGeom prst="rect">
            <a:avLst/>
          </a:prstGeom>
          <a:noFill/>
        </p:spPr>
        <p:txBody>
          <a:bodyPr wrap="square">
            <a:spAutoFit/>
          </a:bodyPr>
          <a:lstStyle/>
          <a:p>
            <a:pPr algn="l">
              <a:defRPr sz="2800" b="1">
                <a:solidFill>
                  <a:srgbClr val="001F5B"/>
                </a:solidFill>
                <a:latin typeface="Calibri"/>
              </a:defRPr>
            </a:pPr>
            <a:r>
              <a:t>Recommended Policy</a:t>
            </a:r>
          </a:p>
        </p:txBody>
      </p:sp>
      <p:sp>
        <p:nvSpPr>
          <p:cNvPr id="6" name="TextBox 5"/>
          <p:cNvSpPr txBox="1"/>
          <p:nvPr/>
        </p:nvSpPr>
        <p:spPr>
          <a:xfrm>
            <a:off x="731520" y="1371600"/>
            <a:ext cx="10515600" cy="4114800"/>
          </a:xfrm>
          <a:prstGeom prst="rect">
            <a:avLst/>
          </a:prstGeom>
          <a:noFill/>
        </p:spPr>
        <p:txBody>
          <a:bodyPr wrap="square">
            <a:spAutoFit/>
          </a:bodyPr>
          <a:lstStyle/>
          <a:p>
            <a:pPr>
              <a:spcAft>
                <a:spcPts val="1200"/>
              </a:spcAft>
              <a:defRPr sz="1600">
                <a:solidFill>
                  <a:srgbClr val="333333"/>
                </a:solidFill>
                <a:latin typeface="Calibri"/>
              </a:defRPr>
            </a:pPr>
            <a:r>
              <a:t>▸  HDFC ERGO Optima Secure+ with ABCD Chronic Care, Optima Wellbeing, and Hospital Cash Benefit add‑ons.</a:t>
            </a:r>
          </a:p>
        </p:txBody>
      </p:sp>
      <p:sp>
        <p:nvSpPr>
          <p:cNvPr id="7" name="Rectangle 6"/>
          <p:cNvSpPr/>
          <p:nvPr/>
        </p:nvSpPr>
        <p:spPr>
          <a:xfrm>
            <a:off x="0" y="6583680"/>
            <a:ext cx="12191695" cy="274320"/>
          </a:xfrm>
          <a:prstGeom prst="rect">
            <a:avLst/>
          </a:prstGeom>
          <a:solidFill>
            <a:srgbClr val="001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4572000" cy="274320"/>
          </a:xfrm>
          <a:prstGeom prst="rect">
            <a:avLst/>
          </a:prstGeom>
          <a:noFill/>
        </p:spPr>
        <p:txBody>
          <a:bodyPr wrap="square">
            <a:spAutoFit/>
          </a:bodyPr>
          <a:lstStyle/>
          <a:p>
            <a:pPr algn="l">
              <a:defRPr sz="900" b="0">
                <a:solidFill>
                  <a:srgbClr val="FFFFFF"/>
                </a:solidFill>
                <a:latin typeface="Calibri"/>
              </a:defRPr>
            </a:pPr>
            <a:r>
              <a:t>MARSH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1F5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058400" cy="548640"/>
          </a:xfrm>
          <a:prstGeom prst="rect">
            <a:avLst/>
          </a:prstGeom>
          <a:noFill/>
        </p:spPr>
        <p:txBody>
          <a:bodyPr wrap="square">
            <a:spAutoFit/>
          </a:bodyPr>
          <a:lstStyle/>
          <a:p>
            <a:pPr algn="l">
              <a:defRPr sz="1400" b="1">
                <a:solidFill>
                  <a:srgbClr val="009688"/>
                </a:solidFill>
                <a:latin typeface="Calibri"/>
              </a:defRPr>
            </a:pPr>
            <a:r>
              <a:t>OUR RECOMMENDATION</a:t>
            </a:r>
          </a:p>
        </p:txBody>
      </p:sp>
      <p:sp>
        <p:nvSpPr>
          <p:cNvPr id="4" name="TextBox 3"/>
          <p:cNvSpPr txBox="1"/>
          <p:nvPr/>
        </p:nvSpPr>
        <p:spPr>
          <a:xfrm>
            <a:off x="914400" y="1371600"/>
            <a:ext cx="10058400" cy="1097280"/>
          </a:xfrm>
          <a:prstGeom prst="rect">
            <a:avLst/>
          </a:prstGeom>
          <a:noFill/>
        </p:spPr>
        <p:txBody>
          <a:bodyPr wrap="square">
            <a:spAutoFit/>
          </a:bodyPr>
          <a:lstStyle/>
          <a:p>
            <a:pPr algn="l">
              <a:defRPr sz="3600" b="1">
                <a:solidFill>
                  <a:srgbClr val="FFFFFF"/>
                </a:solidFill>
                <a:latin typeface="Calibri"/>
              </a:defRPr>
            </a:pPr>
            <a:r>
              <a:t>HDFC ERGO Optima Secure+ (with ABCD Chronic Care, Optima Wellbeing, Hospital Cash Benefit)</a:t>
            </a:r>
          </a:p>
        </p:txBody>
      </p:sp>
      <p:sp>
        <p:nvSpPr>
          <p:cNvPr id="5" name="Rounded Rectangle 4"/>
          <p:cNvSpPr/>
          <p:nvPr/>
        </p:nvSpPr>
        <p:spPr>
          <a:xfrm>
            <a:off x="914400" y="2743200"/>
            <a:ext cx="10058400" cy="2286000"/>
          </a:xfrm>
          <a:prstGeom prst="roundRect">
            <a:avLst/>
          </a:prstGeom>
          <a:solidFill>
            <a:srgbClr val="002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926080"/>
            <a:ext cx="9509760" cy="457200"/>
          </a:xfrm>
          <a:prstGeom prst="rect">
            <a:avLst/>
          </a:prstGeom>
          <a:noFill/>
        </p:spPr>
        <p:txBody>
          <a:bodyPr wrap="square">
            <a:spAutoFit/>
          </a:bodyPr>
          <a:lstStyle/>
          <a:p>
            <a:pPr algn="l">
              <a:defRPr sz="1800" b="1">
                <a:solidFill>
                  <a:srgbClr val="009688"/>
                </a:solidFill>
                <a:latin typeface="Calibri"/>
              </a:defRPr>
            </a:pPr>
            <a:r>
              <a:t>Why This Policy?</a:t>
            </a:r>
          </a:p>
        </p:txBody>
      </p:sp>
      <p:sp>
        <p:nvSpPr>
          <p:cNvPr id="7" name="TextBox 6"/>
          <p:cNvSpPr txBox="1"/>
          <p:nvPr/>
        </p:nvSpPr>
        <p:spPr>
          <a:xfrm>
            <a:off x="1188720" y="3474720"/>
            <a:ext cx="9509760" cy="1371600"/>
          </a:xfrm>
          <a:prstGeom prst="rect">
            <a:avLst/>
          </a:prstGeom>
          <a:noFill/>
        </p:spPr>
        <p:txBody>
          <a:bodyPr wrap="square">
            <a:spAutoFit/>
          </a:bodyPr>
          <a:lstStyle/>
          <a:p>
            <a:pPr algn="l">
              <a:defRPr sz="1600" b="0">
                <a:solidFill>
                  <a:srgbClr val="F0F2F5"/>
                </a:solidFill>
                <a:latin typeface="Calibri"/>
              </a:defRPr>
            </a:pPr>
            <a:r>
              <a:t>The policy delivers Day‑1 chronic condition coverage through ABCD Chronic Care, adds outpatient support for musculoskeletal and mental‑health care via Optima Wellbeing, and provides daily cash during hospital stays, directly matching Infosys' high‑stress, sedentary and travel‑related risk profile.</a:t>
            </a:r>
          </a:p>
        </p:txBody>
      </p:sp>
      <p:sp>
        <p:nvSpPr>
          <p:cNvPr id="8" name="Rectangle 7"/>
          <p:cNvSpPr/>
          <p:nvPr/>
        </p:nvSpPr>
        <p:spPr>
          <a:xfrm>
            <a:off x="0" y="5943600"/>
            <a:ext cx="2743200" cy="7315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6126480"/>
            <a:ext cx="10058400" cy="457200"/>
          </a:xfrm>
          <a:prstGeom prst="rect">
            <a:avLst/>
          </a:prstGeom>
          <a:noFill/>
        </p:spPr>
        <p:txBody>
          <a:bodyPr wrap="square">
            <a:spAutoFit/>
          </a:bodyPr>
          <a:lstStyle/>
          <a:p>
            <a:pPr algn="l">
              <a:defRPr sz="1400" b="0">
                <a:solidFill>
                  <a:srgbClr val="666666"/>
                </a:solidFill>
                <a:latin typeface="Calibri"/>
              </a:defRPr>
            </a:pPr>
            <a:r>
              <a:t>Contact your Marsh advisor to discuss this recommendation.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